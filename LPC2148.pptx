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3"/>
  </p:notesMasterIdLst>
  <p:sldIdLst>
    <p:sldId id="256" r:id="rId2"/>
    <p:sldId id="322" r:id="rId3"/>
    <p:sldId id="257" r:id="rId4"/>
    <p:sldId id="323" r:id="rId5"/>
    <p:sldId id="324" r:id="rId6"/>
    <p:sldId id="325" r:id="rId7"/>
    <p:sldId id="258" r:id="rId8"/>
    <p:sldId id="259" r:id="rId9"/>
    <p:sldId id="260" r:id="rId10"/>
    <p:sldId id="261" r:id="rId11"/>
    <p:sldId id="262" r:id="rId12"/>
    <p:sldId id="263" r:id="rId13"/>
    <p:sldId id="326" r:id="rId14"/>
    <p:sldId id="331" r:id="rId15"/>
    <p:sldId id="264" r:id="rId16"/>
    <p:sldId id="265" r:id="rId17"/>
    <p:sldId id="321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4" r:id="rId26"/>
    <p:sldId id="273" r:id="rId27"/>
    <p:sldId id="275" r:id="rId28"/>
    <p:sldId id="276" r:id="rId29"/>
    <p:sldId id="277" r:id="rId30"/>
    <p:sldId id="278" r:id="rId31"/>
    <p:sldId id="279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34" r:id="rId72"/>
  </p:sldIdLst>
  <p:sldSz cx="9144000" cy="5143500" type="screen16x9"/>
  <p:notesSz cx="6858000" cy="9144000"/>
  <p:embeddedFontLst>
    <p:embeddedFont>
      <p:font typeface="Oswald" panose="020B0604020202020204" charset="0"/>
      <p:regular r:id="rId74"/>
      <p:bold r:id="rId75"/>
    </p:embeddedFont>
    <p:embeddedFont>
      <p:font typeface="Source Code Pro" panose="020B0604020202020204" charset="0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2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2104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5a5cfb8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5a5cfb8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94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c900b3aadc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c900b3aadc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c900b3aadc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c900b3aadc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010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c900b3aadc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c900b3aadc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700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c900b3aadc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c900b3aadc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705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900b3aadc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900b3aadc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781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c900b3aadc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c900b3aadc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48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c900b3aadc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c900b3aadc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162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91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900b3aadc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c900b3aadc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821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900b3aad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c900b3aadc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450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c900b3aadc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c900b3aadc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922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9e467168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9e467168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4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c900b3aadc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c900b3aadc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716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c900b3aadc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c900b3aadc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85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c900b3aadc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c900b3aadc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433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c900b3aadc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c900b3aadc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251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e9e46716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e9e46716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491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151e15e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0151e15e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549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0151e15e0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0151e15e0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825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151e15e0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151e15e0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080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151e15e0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151e15e0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726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151e15e0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151e15e0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587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0151e15e0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0151e15e0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054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c900b3aadc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c900b3aadc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681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c900b3aadc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c900b3aadc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693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c900b3aadc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c900b3aadc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9855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c900b3aadc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c900b3aadc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8609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c900b3aadc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c900b3aadc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3020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c900b3aadc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c900b3aadc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0029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c900b3aadc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c900b3aadc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861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c900b3aadc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c900b3aadc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539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c900b3aadc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c900b3aadc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412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c90490aca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c90490aca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194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c90490aca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c90490aca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443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c900b3aadc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c900b3aadc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3331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c900b3aadc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c900b3aadc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8243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c900b3aadc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c900b3aadc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8342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c900b3aadc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c900b3aadc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4378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c900b3aadc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c900b3aadc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0800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c900b3aadc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c900b3aadc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5570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c900b3aadc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c900b3aadc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142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c900b3aad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c900b3aad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130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1a3ddec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1a3ddec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4141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3dd4b888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3dd4b888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7411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08ed0461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08ed0461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041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08ed0461b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08ed0461b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5424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08ed0461b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08ed0461b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4506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08ed0461b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08ed0461b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8670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08ed0461b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08ed0461b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3036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08ed0461b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08ed0461b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56228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08ed0461b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08ed0461b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5832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8ed0461b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08ed0461b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5164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08ed0461b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08ed0461b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6133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08ed0461b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08ed0461b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2210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08ed0461b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08ed0461b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4166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08ed0461b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08ed0461b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5110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08ed0461b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08ed0461b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8400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ded02da19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ded02da19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2146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ded02da1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ded02da1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4392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ded02da19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ded02da19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0864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ded02da19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ded02da19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43743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ded02da19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ded02da19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98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1" i="1"/>
              <a:t>ARM:</a:t>
            </a:r>
            <a:endParaRPr sz="47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Differences in RISC and CISC Architecture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54964"/>
              </p:ext>
            </p:extLst>
          </p:nvPr>
        </p:nvGraphicFramePr>
        <p:xfrm>
          <a:off x="1538748" y="1321414"/>
          <a:ext cx="6096000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RISC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CISC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It stands for Reduced Instruction Set Computer</a:t>
                      </a:r>
                      <a:r>
                        <a:rPr lang="en-US" dirty="0" smtClean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.(1975 John </a:t>
                      </a:r>
                      <a:r>
                        <a:rPr lang="en-US" dirty="0" err="1" smtClean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Cocke</a:t>
                      </a:r>
                      <a:r>
                        <a:rPr lang="en-US" dirty="0" smtClean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)</a:t>
                      </a:r>
                      <a:endParaRPr lang="en-US" dirty="0">
                        <a:solidFill>
                          <a:schemeClr val="bg2"/>
                        </a:solidFill>
                        <a:effectLst/>
                        <a:latin typeface="inherit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It stands for Complex Instruction Set Computer.</a:t>
                      </a:r>
                    </a:p>
                  </a:txBody>
                  <a:tcPr marL="50800" marR="50800" marT="50800" marB="508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It is a microprocessor architecture that uses small instruction set of uniform length.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This offers hundreds of instructions of different sizes to the users.</a:t>
                      </a:r>
                    </a:p>
                  </a:txBody>
                  <a:tcPr marL="50800" marR="50800" marT="50800" marB="5080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These simple instructions are executed in one clock cycle.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These simple instructions are executed in more than one clock cycle.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It has less number of instructions.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inherit"/>
                        </a:rPr>
                        <a:t>It has more number of instructions.</a:t>
                      </a:r>
                    </a:p>
                  </a:txBody>
                  <a:tcPr marL="50800" marR="50800" marT="50800" marB="508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Uses of the pipeline are simple in RISC.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Uses of the pipeline are difficult in CISC.</a:t>
                      </a:r>
                    </a:p>
                  </a:txBody>
                  <a:tcPr marL="50800" marR="50800" marT="50800" marB="508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execution time of RISC is very short.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execution time of CISC is longer.</a:t>
                      </a:r>
                    </a:p>
                  </a:txBody>
                  <a:tcPr marL="50800" marR="50800" marT="50800" marB="508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57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ARM INTRODUCTION: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642700" cy="35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ARM Originally Arcon RISC Machine.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Later Advanced RISC Machine.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It is family of Reduced Instruction Set Computer(RISC).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British Company ARM Holding develops the architecture and licences it to companies, who design their own product implement one of those architectures.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ARM do not make IC’s.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ARM grant licences of core to different silicon vendors like NXP,Atmel, Cirrus Logic, etc.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 : 	LPC2148 from NXP.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			AT91RM9200 form Atmel.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951" y="131112"/>
            <a:ext cx="8520600" cy="733500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History Of ARM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6742" y="1850921"/>
            <a:ext cx="1460091" cy="9070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180 </a:t>
            </a:r>
          </a:p>
          <a:p>
            <a:pPr algn="ctr"/>
            <a:r>
              <a:rPr lang="en-IN" dirty="0" smtClean="0"/>
              <a:t>nm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581400" y="1902540"/>
            <a:ext cx="1034845" cy="80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65</a:t>
            </a:r>
          </a:p>
          <a:p>
            <a:pPr algn="ctr"/>
            <a:r>
              <a:rPr lang="en-IN" dirty="0" smtClean="0"/>
              <a:t>nm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31425" y="1976280"/>
            <a:ext cx="786581" cy="656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10</a:t>
            </a:r>
          </a:p>
          <a:p>
            <a:pPr algn="ctr"/>
            <a:r>
              <a:rPr lang="en-IN" dirty="0" smtClean="0"/>
              <a:t>nm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433186" y="2094266"/>
            <a:ext cx="486697" cy="420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5</a:t>
            </a:r>
          </a:p>
          <a:p>
            <a:pPr algn="ctr"/>
            <a:r>
              <a:rPr lang="en-IN" dirty="0" smtClean="0"/>
              <a:t>nm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550565" y="2921277"/>
            <a:ext cx="646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1995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775349" y="2921277"/>
            <a:ext cx="646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2005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01242" y="2898313"/>
            <a:ext cx="646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2015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353061" y="2898312"/>
            <a:ext cx="646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2022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02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99655"/>
            <a:ext cx="8520600" cy="733500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Pathway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16302"/>
              </p:ext>
            </p:extLst>
          </p:nvPr>
        </p:nvGraphicFramePr>
        <p:xfrm>
          <a:off x="420328" y="1010264"/>
          <a:ext cx="8170606" cy="3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5303"/>
                <a:gridCol w="4085303"/>
              </a:tblGrid>
              <a:tr h="43703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PROCESSOR NAME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/>
                        <a:t>INSTRUCTION</a:t>
                      </a:r>
                      <a:r>
                        <a:rPr lang="en-IN" sz="1600" baseline="0" dirty="0" smtClean="0"/>
                        <a:t> SET NAME</a:t>
                      </a:r>
                      <a:endParaRPr lang="en-IN" sz="1600" dirty="0"/>
                    </a:p>
                  </a:txBody>
                  <a:tcPr/>
                </a:tc>
              </a:tr>
              <a:tr h="684714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ARM7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TDMI Processor (T- Thumb, D-Hardware Debugging, M-multiplying instr. I - Breakpoint and watch point program)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ARMv4</a:t>
                      </a:r>
                    </a:p>
                    <a:p>
                      <a:r>
                        <a:rPr lang="en-IN" baseline="0" dirty="0" smtClean="0"/>
                        <a:t>Thumb (16 bit)</a:t>
                      </a:r>
                      <a:endParaRPr lang="en-IN" dirty="0"/>
                    </a:p>
                  </a:txBody>
                  <a:tcPr/>
                </a:tc>
              </a:tr>
              <a:tr h="918953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ARM9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Processor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ARMv5</a:t>
                      </a:r>
                    </a:p>
                    <a:p>
                      <a:r>
                        <a:rPr lang="en-IN" dirty="0" smtClean="0"/>
                        <a:t>Thumb</a:t>
                      </a:r>
                    </a:p>
                    <a:p>
                      <a:r>
                        <a:rPr lang="en-IN" dirty="0" smtClean="0"/>
                        <a:t>VFPV2 (This is advanced Instruction</a:t>
                      </a:r>
                      <a:r>
                        <a:rPr lang="en-IN" baseline="0" dirty="0" smtClean="0"/>
                        <a:t> set</a:t>
                      </a:r>
                      <a:r>
                        <a:rPr lang="en-IN" dirty="0" smtClean="0"/>
                        <a:t>)</a:t>
                      </a:r>
                    </a:p>
                    <a:p>
                      <a:r>
                        <a:rPr lang="en-IN" dirty="0" err="1" smtClean="0"/>
                        <a:t>Jazelle</a:t>
                      </a:r>
                      <a:r>
                        <a:rPr lang="en-IN" dirty="0" smtClean="0"/>
                        <a:t> (java compatible instruction set)</a:t>
                      </a:r>
                      <a:endParaRPr lang="en-IN" dirty="0"/>
                    </a:p>
                  </a:txBody>
                  <a:tcPr/>
                </a:tc>
              </a:tr>
              <a:tr h="1779136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ARM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11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ARM v6 </a:t>
                      </a:r>
                    </a:p>
                    <a:p>
                      <a:r>
                        <a:rPr lang="en-IN" dirty="0" smtClean="0"/>
                        <a:t>Thumb – 2 ( 32 bit )</a:t>
                      </a:r>
                    </a:p>
                    <a:p>
                      <a:r>
                        <a:rPr lang="en-IN" dirty="0" err="1" smtClean="0"/>
                        <a:t>Trustzone</a:t>
                      </a:r>
                      <a:r>
                        <a:rPr lang="en-IN" dirty="0" smtClean="0"/>
                        <a:t> (added security features)</a:t>
                      </a:r>
                    </a:p>
                    <a:p>
                      <a:r>
                        <a:rPr lang="en-IN" dirty="0" smtClean="0"/>
                        <a:t>SIMD (single</a:t>
                      </a:r>
                      <a:r>
                        <a:rPr lang="en-IN" baseline="0" dirty="0" smtClean="0"/>
                        <a:t> instruction with multiple data</a:t>
                      </a:r>
                      <a:r>
                        <a:rPr lang="en-IN" dirty="0" smtClean="0"/>
                        <a:t>)</a:t>
                      </a:r>
                    </a:p>
                    <a:p>
                      <a:r>
                        <a:rPr lang="en-IN" dirty="0" smtClean="0"/>
                        <a:t>VFPV2 </a:t>
                      </a:r>
                    </a:p>
                    <a:p>
                      <a:r>
                        <a:rPr lang="en-IN" dirty="0" err="1" smtClean="0"/>
                        <a:t>Jazelle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Thumb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66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42154"/>
              </p:ext>
            </p:extLst>
          </p:nvPr>
        </p:nvGraphicFramePr>
        <p:xfrm>
          <a:off x="1472381" y="230033"/>
          <a:ext cx="6096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827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PROCESSOR NAME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/>
                        <a:t>INSTRUCTION</a:t>
                      </a:r>
                      <a:r>
                        <a:rPr lang="en-IN" sz="1400" baseline="0" dirty="0" smtClean="0"/>
                        <a:t> SET NAME</a:t>
                      </a:r>
                      <a:endParaRPr lang="en-IN" sz="1400" dirty="0" smtClean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2470656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ARM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Cortex A9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ARMv7,</a:t>
                      </a:r>
                    </a:p>
                    <a:p>
                      <a:r>
                        <a:rPr lang="en-IN" dirty="0" smtClean="0"/>
                        <a:t>Thumb,</a:t>
                      </a:r>
                    </a:p>
                    <a:p>
                      <a:r>
                        <a:rPr lang="en-IN" dirty="0" err="1" smtClean="0"/>
                        <a:t>Jazelle</a:t>
                      </a:r>
                      <a:r>
                        <a:rPr lang="en-IN" dirty="0" smtClean="0"/>
                        <a:t>,</a:t>
                      </a:r>
                    </a:p>
                    <a:p>
                      <a:r>
                        <a:rPr lang="en-IN" dirty="0" smtClean="0"/>
                        <a:t>VFPV2,</a:t>
                      </a:r>
                    </a:p>
                    <a:p>
                      <a:r>
                        <a:rPr lang="en-IN" dirty="0" smtClean="0"/>
                        <a:t>SIMD,</a:t>
                      </a:r>
                    </a:p>
                    <a:p>
                      <a:r>
                        <a:rPr lang="en-IN" dirty="0" err="1" smtClean="0"/>
                        <a:t>Trustzone</a:t>
                      </a:r>
                      <a:r>
                        <a:rPr lang="en-IN" dirty="0" smtClean="0"/>
                        <a:t>,</a:t>
                      </a:r>
                    </a:p>
                    <a:p>
                      <a:r>
                        <a:rPr lang="en-IN" dirty="0" smtClean="0"/>
                        <a:t>Thumb-2,</a:t>
                      </a:r>
                    </a:p>
                    <a:p>
                      <a:r>
                        <a:rPr lang="en-IN" dirty="0" smtClean="0"/>
                        <a:t>Neon</a:t>
                      </a:r>
                      <a:r>
                        <a:rPr lang="en-IN" baseline="0" dirty="0" smtClean="0"/>
                        <a:t> (added Graphics based </a:t>
                      </a:r>
                      <a:r>
                        <a:rPr lang="en-IN" baseline="0" dirty="0" err="1" smtClean="0"/>
                        <a:t>instru</a:t>
                      </a:r>
                      <a:r>
                        <a:rPr lang="en-IN" baseline="0" dirty="0" smtClean="0"/>
                        <a:t>. &amp; gaming experience enhanced),</a:t>
                      </a:r>
                    </a:p>
                    <a:p>
                      <a:r>
                        <a:rPr lang="en-IN" baseline="0" dirty="0" smtClean="0"/>
                        <a:t>Virtualization (we can run multiple OS in same system)</a:t>
                      </a:r>
                      <a:endParaRPr lang="en-IN" dirty="0" smtClean="0"/>
                    </a:p>
                    <a:p>
                      <a:endParaRPr lang="en-IN" dirty="0"/>
                    </a:p>
                  </a:txBody>
                  <a:tcPr/>
                </a:tc>
              </a:tr>
              <a:tr h="1277925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Advanced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Cortex A50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(Cortex Series)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ARMv8,</a:t>
                      </a:r>
                    </a:p>
                    <a:p>
                      <a:r>
                        <a:rPr lang="en-IN" baseline="0" dirty="0" smtClean="0"/>
                        <a:t>All previous set,</a:t>
                      </a:r>
                    </a:p>
                    <a:p>
                      <a:r>
                        <a:rPr lang="en-IN" baseline="0" dirty="0" smtClean="0"/>
                        <a:t>Scalar floating point instr. Set,</a:t>
                      </a:r>
                    </a:p>
                    <a:p>
                      <a:r>
                        <a:rPr lang="en-IN" baseline="0" dirty="0" smtClean="0"/>
                        <a:t>Advanced SIMD,</a:t>
                      </a:r>
                    </a:p>
                    <a:p>
                      <a:r>
                        <a:rPr lang="en-IN" baseline="0" dirty="0" smtClean="0"/>
                        <a:t>Backward capability</a:t>
                      </a:r>
                    </a:p>
                    <a:p>
                      <a:endParaRPr lang="en-IN" baseline="0" dirty="0" smtClean="0"/>
                    </a:p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67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				ARM PROCESSORS: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ARM Processors can be divided into 3 parts: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ARM Classic Processors.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ARM Embedded Processors.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3) ARM Applications Processors.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255925"/>
            <a:ext cx="8520600" cy="85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 b="1">
                <a:latin typeface="Source Code Pro"/>
                <a:ea typeface="Source Code Pro"/>
                <a:cs typeface="Source Code Pro"/>
                <a:sym typeface="Source Code Pro"/>
              </a:rPr>
              <a:t>ARM Classic Processors:</a:t>
            </a:r>
            <a:endParaRPr sz="3900" b="1"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5976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ARM Classic Processors include ARM7, ARM9, ARM11 families.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ARM7TDMI is still still highest shipping 32-bit processors.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ARM7 based processors are still used in many small and simple 32-bit devices.</a:t>
            </a:r>
            <a:endParaRPr sz="2200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875" y="1360691"/>
            <a:ext cx="2789418" cy="33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				</a:t>
            </a:r>
            <a:r>
              <a:rPr lang="en" b="1" dirty="0" smtClean="0">
                <a:solidFill>
                  <a:schemeClr val="dk1"/>
                </a:solidFill>
              </a:rPr>
              <a:t>ARM </a:t>
            </a:r>
            <a:r>
              <a:rPr lang="en" b="1" dirty="0">
                <a:solidFill>
                  <a:schemeClr val="dk1"/>
                </a:solidFill>
              </a:rPr>
              <a:t>Embedded Processors: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Even though ARM7 and other Classic ARM Processor can be used for small scale embedded systems, never embedded systems are build using the advanced ARM Embedded Processors.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Such as Cortex-M processors and Cortex-R Processors.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ARM Cortex-M have a Microcontroller profile while the ARM Cortex-R have a Real time profile.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ARM Embedded Processors: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00" y="1352500"/>
            <a:ext cx="7390625" cy="35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1"/>
                </a:solidFill>
              </a:rPr>
              <a:t>			ARM Applications Processors:</a:t>
            </a:r>
            <a:endParaRPr b="1" i="1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ARM Cortex A series of Processors are Applications Processors.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are Highest Performance processors from ARM.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are used in powerful mobile, compelling technology products like network devices, consumers applications, automation system, automobile and other embedded system.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Cortex-A processors are again divided into high performance, high efficiency and ultra-high efficiency type processors.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1"/>
                </a:solidFill>
              </a:rPr>
              <a:t>			ARM Applications Processors:</a:t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28" y="1382403"/>
            <a:ext cx="7451375" cy="35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38915"/>
              </p:ext>
            </p:extLst>
          </p:nvPr>
        </p:nvGraphicFramePr>
        <p:xfrm>
          <a:off x="1201994" y="1122311"/>
          <a:ext cx="6771968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929"/>
                <a:gridCol w="1594055"/>
                <a:gridCol w="1692992"/>
                <a:gridCol w="16929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Parameter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Cortex-A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Cortex-R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Cortex-M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Performance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Highest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Very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good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Medium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Response 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Very good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Highest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Medium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Power Consumption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80uw/</a:t>
                      </a:r>
                      <a:r>
                        <a:rPr lang="en-IN" dirty="0" err="1" smtClean="0">
                          <a:solidFill>
                            <a:schemeClr val="bg2"/>
                          </a:solidFill>
                        </a:rPr>
                        <a:t>Mhz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120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IN" baseline="0" dirty="0" err="1" smtClean="0">
                          <a:solidFill>
                            <a:schemeClr val="bg2"/>
                          </a:solidFill>
                        </a:rPr>
                        <a:t>uw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/</a:t>
                      </a:r>
                      <a:r>
                        <a:rPr lang="en-IN" baseline="0" dirty="0" err="1" smtClean="0">
                          <a:solidFill>
                            <a:schemeClr val="bg2"/>
                          </a:solidFill>
                        </a:rPr>
                        <a:t>Mhz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8uw/</a:t>
                      </a:r>
                      <a:r>
                        <a:rPr lang="en-IN" dirty="0" err="1" smtClean="0">
                          <a:solidFill>
                            <a:schemeClr val="bg2"/>
                          </a:solidFill>
                        </a:rPr>
                        <a:t>Mhz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Processor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Application based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RTOS based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Embedded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based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Pipeline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Long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Medium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Short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Clock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High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High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Relatively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less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Memory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Cache with more size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Cache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with medium size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Cache with less size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Application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Automobiles, Router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Robotic,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Hard-drive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2"/>
                          </a:solidFill>
                        </a:rPr>
                        <a:t>Smart devices, embedded</a:t>
                      </a:r>
                      <a:r>
                        <a:rPr lang="en-IN" baseline="0" dirty="0" smtClean="0">
                          <a:solidFill>
                            <a:schemeClr val="bg2"/>
                          </a:solidFill>
                        </a:rPr>
                        <a:t> device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60987" y="221226"/>
            <a:ext cx="660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Differences in ARM Cortex A-R-M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646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-69952"/>
            <a:ext cx="8520600" cy="733500"/>
          </a:xfrm>
        </p:spPr>
        <p:txBody>
          <a:bodyPr/>
          <a:lstStyle/>
          <a:p>
            <a:pPr algn="ctr"/>
            <a:r>
              <a:rPr lang="en-US" dirty="0" smtClean="0"/>
              <a:t>ARM 7 Pipelining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560908"/>
              </p:ext>
            </p:extLst>
          </p:nvPr>
        </p:nvGraphicFramePr>
        <p:xfrm>
          <a:off x="2224549" y="1395156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E3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2445" y="1460090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529653"/>
              </p:ext>
            </p:extLst>
          </p:nvPr>
        </p:nvGraphicFramePr>
        <p:xfrm>
          <a:off x="1206910" y="2003118"/>
          <a:ext cx="2258961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987"/>
                <a:gridCol w="752987"/>
                <a:gridCol w="752987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E1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715693"/>
              </p:ext>
            </p:extLst>
          </p:nvPr>
        </p:nvGraphicFramePr>
        <p:xfrm>
          <a:off x="1956619" y="2303002"/>
          <a:ext cx="2258961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987"/>
                <a:gridCol w="752987"/>
                <a:gridCol w="752987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E2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54312"/>
              </p:ext>
            </p:extLst>
          </p:nvPr>
        </p:nvGraphicFramePr>
        <p:xfrm>
          <a:off x="2701414" y="2586826"/>
          <a:ext cx="2258961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987"/>
                <a:gridCol w="752987"/>
                <a:gridCol w="752987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E3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11762" y="261046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4684" y="3281516"/>
            <a:ext cx="80526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ARM7 uses 3 stage pipeline: fetch, decode ,execute.</a:t>
            </a:r>
          </a:p>
          <a:p>
            <a:r>
              <a:rPr lang="en-US" dirty="0" smtClean="0"/>
              <a:t>ARM9 uses 5 stage pipeline: fetch, decode, execute, memory write, register write.</a:t>
            </a:r>
          </a:p>
          <a:p>
            <a:r>
              <a:rPr lang="en-US" dirty="0" smtClean="0"/>
              <a:t>ARM10 uses 6 stage pipeline: </a:t>
            </a:r>
            <a:r>
              <a:rPr lang="en-US" dirty="0" err="1" smtClean="0"/>
              <a:t>f,d,e,mw,rw,issue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38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/>
              <a:t>LPC2148</a:t>
            </a:r>
            <a:endParaRPr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 DIAGRAM: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501" y="705400"/>
            <a:ext cx="4380376" cy="42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What is LPC?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It is “LOW PIN COUNT” refer to relatively small numbers of pins required for interfacing. Thus it makes circuit very cost effective and space saving.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10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1">
                <a:solidFill>
                  <a:schemeClr val="dk1"/>
                </a:solidFill>
              </a:rPr>
              <a:t>Features of LPC2148:</a:t>
            </a:r>
            <a:endParaRPr sz="3100" b="1" i="1">
              <a:solidFill>
                <a:schemeClr val="dk1"/>
              </a:solidFill>
            </a:endParaRPr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4000800" cy="32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• CPU = ARM 7 Core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/>
              <a:t>• Word Length = 32 Bit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/>
              <a:t>• ROM = 512 </a:t>
            </a:r>
            <a:r>
              <a:rPr lang="en" sz="1800" dirty="0" smtClean="0"/>
              <a:t>KB (flash memory)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/>
              <a:t>• RAM = </a:t>
            </a:r>
            <a:r>
              <a:rPr lang="en" sz="1800" dirty="0" smtClean="0"/>
              <a:t>40KB(32kb SRAM, 8kb USB shared memory)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/>
              <a:t>• 2 Parallel Port (P0,P1  29+16 = 45 GPIO)</a:t>
            </a:r>
            <a:endParaRPr sz="18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dirty="0"/>
              <a:t>• 2 Timers (32 Bit)  4 Compare,4 Capture,6 PWM</a:t>
            </a:r>
            <a:endParaRPr sz="1800" dirty="0"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2"/>
          </p:nvPr>
        </p:nvSpPr>
        <p:spPr>
          <a:xfrm>
            <a:off x="4485150" y="1468825"/>
            <a:ext cx="4347300" cy="32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• Interrupts sources = 22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• 1 WatchDog Timer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• 1 RTC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• 2 ADC (AD0,AD1)  8+6 = 14 Channels (10 Bit)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/>
              <a:t>• 1 DAC (10 Bit)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dirty="0"/>
              <a:t>• 2 - I2C-bus, 2 –UARTs, 2-SPI/ SSP, 1 USB</a:t>
            </a:r>
            <a:endParaRPr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184325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1">
                <a:solidFill>
                  <a:schemeClr val="dk1"/>
                </a:solidFill>
              </a:rPr>
              <a:t>Types of Buses:</a:t>
            </a:r>
            <a:endParaRPr sz="3100" b="1" i="1">
              <a:solidFill>
                <a:schemeClr val="dk1"/>
              </a:solidFill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0" y="1255525"/>
            <a:ext cx="8832300" cy="3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795"/>
              <a:t>• In LPC2148 three types of busses are used to connect the core with other peripherals on chip.</a:t>
            </a: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95"/>
              <a:t>1. Local Bus to connect the on-chip memory controllers and fast GPIO’s.</a:t>
            </a: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95"/>
              <a:t>2. Advance High Performance Bus (AHB) for interrupt controller</a:t>
            </a: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95"/>
              <a:t>3. VLSI Peripheral Bus (VPB) for other on-chip peripherals.</a:t>
            </a: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795"/>
              <a:t>• AHB acts as a bridge for VPB.</a:t>
            </a: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795"/>
              <a:t>• VPB is mainly meant for connecting slower peripherals with processor.</a:t>
            </a:r>
            <a:endParaRPr sz="179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15295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0000"/>
                </a:solidFill>
              </a:rPr>
              <a:t>BUS Architecture:</a:t>
            </a:r>
            <a:endParaRPr sz="3200" b="1">
              <a:solidFill>
                <a:srgbClr val="FF0000"/>
              </a:solidFill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75" y="1085900"/>
            <a:ext cx="6780374" cy="39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311700" y="215675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Advanced High performance Bus (AHB)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235500" y="1255525"/>
            <a:ext cx="8797200" cy="3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/>
              <a:t>• The ARM7 core is connected to the Advanced High performance Bus (AHB)</a:t>
            </a:r>
            <a:endParaRPr sz="206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2060" dirty="0"/>
              <a:t>• This is the Fastest Bus in ARM7 core.</a:t>
            </a:r>
            <a:endParaRPr sz="2060" dirty="0"/>
          </a:p>
          <a:p>
            <a:pPr marL="0" lvl="0" indent="0">
              <a:lnSpc>
                <a:spcPct val="95000"/>
              </a:lnSpc>
              <a:spcBef>
                <a:spcPts val="1200"/>
              </a:spcBef>
              <a:buSzPts val="770"/>
              <a:buNone/>
            </a:pPr>
            <a:r>
              <a:rPr lang="en" sz="2060" dirty="0"/>
              <a:t>• vector interrupt </a:t>
            </a:r>
            <a:r>
              <a:rPr lang="en" sz="2060" dirty="0" smtClean="0"/>
              <a:t>controller is </a:t>
            </a:r>
            <a:r>
              <a:rPr lang="en" sz="2060" dirty="0"/>
              <a:t>Connected to the AHB </a:t>
            </a:r>
            <a:r>
              <a:rPr lang="en" sz="2060" dirty="0" smtClean="0"/>
              <a:t>  and it is </a:t>
            </a:r>
            <a:r>
              <a:rPr lang="en" sz="2060" dirty="0"/>
              <a:t>bridge to a second bus called </a:t>
            </a:r>
            <a:r>
              <a:rPr lang="en" sz="2060" dirty="0" smtClean="0"/>
              <a:t>the</a:t>
            </a:r>
            <a:r>
              <a:rPr lang="en" sz="2060" dirty="0"/>
              <a:t> </a:t>
            </a:r>
            <a:r>
              <a:rPr lang="en" sz="2060" dirty="0" smtClean="0"/>
              <a:t>VLSI </a:t>
            </a:r>
            <a:r>
              <a:rPr lang="en" sz="2060" dirty="0"/>
              <a:t>peripheral bus (VPB).</a:t>
            </a:r>
            <a:endParaRPr sz="206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2060" dirty="0"/>
              <a:t>• Since the Interrupt vector controller is responsible for managing all the device interrupt sources, it is connected to the ARM7 core by the fastest bus.</a:t>
            </a:r>
            <a:endParaRPr sz="20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VLSI Peripheral Bus [VPB]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• All the user peripherals are connected to the VPB.</a:t>
            </a:r>
            <a:endParaRPr sz="2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• The VBP bridge contains a clock divider, so the VPB bus can be run at a slower speed than the ARM7 core and the AHB.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311700" y="193200"/>
            <a:ext cx="8520600" cy="9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Why VPB is operated at Slow Speeds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153" name="Google Shape;153;p28"/>
          <p:cNvSpPr txBox="1">
            <a:spLocks noGrp="1"/>
          </p:cNvSpPr>
          <p:nvPr>
            <p:ph type="body" idx="1"/>
          </p:nvPr>
        </p:nvSpPr>
        <p:spPr>
          <a:xfrm>
            <a:off x="172775" y="1506450"/>
            <a:ext cx="8828700" cy="35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• For two reasons</a:t>
            </a:r>
            <a:endParaRPr sz="2300" b="1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•  First, we can run the user peripherals at a slower clock rate than the main processor to conserve power.</a:t>
            </a:r>
            <a:endParaRPr sz="2100"/>
          </a:p>
          <a:p>
            <a:pPr marL="457200" lvl="0" indent="-3619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Second, it gives Philips the option of adding a slower peripheral to the LPC2000 family without it becoming a bottleneck on the AHB bus.</a:t>
            </a:r>
            <a:endParaRPr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What is the Optimum speed of VPB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Currently all the on-chip peripherals are capable of     running at 60 MHz so the VPB bus can be set to the same speed as the AHB bus.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• It is important to note that after reset the VPB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divider is set to divide down the AHB clock by four, so all the on-chip peripherals will be running at 1⁄4 the CPU clock frequency.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Local Bus: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1322275"/>
            <a:ext cx="8520600" cy="3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There is a third local bus which is used to connect the on-chip Flash and RAMto the CPU.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Connection of the program code and data store to the ARM7 CPU via the AHB bus is possible, but this introduces some execution stalls because of contention on the bus.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Using a separate local bus removes the possibility of these stalls to give the best processor performance.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025" y="-405583"/>
            <a:ext cx="68756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710675"/>
            <a:ext cx="8520600" cy="145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00FF00"/>
                </a:solidFill>
              </a:rPr>
              <a:t>Activating LPC2148 </a:t>
            </a:r>
            <a:endParaRPr sz="3800" b="1">
              <a:solidFill>
                <a:srgbClr val="00FF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00FF00"/>
                </a:solidFill>
              </a:rPr>
              <a:t>Microcontroller:</a:t>
            </a:r>
            <a:endParaRPr sz="3800" b="1">
              <a:solidFill>
                <a:srgbClr val="00FF00"/>
              </a:solidFill>
            </a:endParaRPr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750" y="2571750"/>
            <a:ext cx="2341850" cy="19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175" y="82275"/>
            <a:ext cx="8022917" cy="506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76" y="64025"/>
            <a:ext cx="7992624" cy="49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75" y="112888"/>
            <a:ext cx="7371425" cy="49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700" y="-94075"/>
            <a:ext cx="53889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</a:rPr>
              <a:t>Parallel Port – Port 0:</a:t>
            </a:r>
            <a:endParaRPr sz="3100" b="1">
              <a:solidFill>
                <a:schemeClr val="dk1"/>
              </a:solidFill>
            </a:endParaRPr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• Port 0 = 32 Pins (P0.0 to P0.31)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• P0.24, P0.26 and P0.27 are not available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• So (32-3) = 29 Pins are Available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• Out of 29 Pins, 28 Pins </a:t>
            </a:r>
            <a:r>
              <a:rPr lang="en" sz="2800" b="1"/>
              <a:t>→</a:t>
            </a:r>
            <a:r>
              <a:rPr lang="en" sz="2300"/>
              <a:t> Bidirectional, </a:t>
            </a:r>
            <a:endParaRPr sz="2300"/>
          </a:p>
          <a:p>
            <a:pPr marL="320040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Pin 31 </a:t>
            </a:r>
            <a:r>
              <a:rPr lang="en" sz="2500" b="1"/>
              <a:t>→</a:t>
            </a:r>
            <a:r>
              <a:rPr lang="en" sz="2300"/>
              <a:t> O/P Only.</a:t>
            </a:r>
            <a:endParaRPr sz="2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LPC2148 I/O Ports:</a:t>
            </a:r>
            <a:endParaRPr/>
          </a:p>
        </p:txBody>
      </p:sp>
      <p:pic>
        <p:nvPicPr>
          <p:cNvPr id="214" name="Google Shape;2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00" y="1659200"/>
            <a:ext cx="8632599" cy="30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/>
              <a:t>Parallel Port – Port 1:</a:t>
            </a:r>
            <a:endParaRPr sz="3300" b="1"/>
          </a:p>
        </p:txBody>
      </p:sp>
      <p:sp>
        <p:nvSpPr>
          <p:cNvPr id="220" name="Google Shape;220;p40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Port 1 = 16 Pins P1.16 to P1.31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• P1.0 to P1.15 of port 1 are not used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===========================================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</a:rPr>
              <a:t>• P0 = 29 (28 Bidirectional + 1 output only)</a:t>
            </a:r>
            <a:endParaRPr sz="21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</a:rPr>
              <a:t>• P1 = 16 (16 Bidirectional)</a:t>
            </a:r>
            <a:endParaRPr sz="21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• Total = 45 GPIOs</a:t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1">
                <a:solidFill>
                  <a:schemeClr val="dk1"/>
                </a:solidFill>
              </a:rPr>
              <a:t>LPC2148 I/O Ports:</a:t>
            </a:r>
            <a:endParaRPr sz="3100" b="1" i="1">
              <a:solidFill>
                <a:schemeClr val="dk1"/>
              </a:solidFill>
            </a:endParaRPr>
          </a:p>
        </p:txBody>
      </p:sp>
      <p:pic>
        <p:nvPicPr>
          <p:cNvPr id="226" name="Google Shape;22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5" y="1681775"/>
            <a:ext cx="8620625" cy="29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0000"/>
                </a:solidFill>
              </a:rPr>
              <a:t>PARALLEL PORT:</a:t>
            </a:r>
            <a:endParaRPr sz="3200" b="1">
              <a:solidFill>
                <a:srgbClr val="FF0000"/>
              </a:solidFill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100" y="1106000"/>
            <a:ext cx="6560849" cy="39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rgbClr val="FF0000"/>
                </a:solidFill>
              </a:rPr>
              <a:t>SFR Programming in ARM:</a:t>
            </a:r>
            <a:endParaRPr sz="3100" b="1">
              <a:solidFill>
                <a:srgbClr val="FF0000"/>
              </a:solidFill>
            </a:endParaRPr>
          </a:p>
        </p:txBody>
      </p:sp>
      <p:sp>
        <p:nvSpPr>
          <p:cNvPr id="238" name="Google Shape;238;p4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90" dirty="0"/>
              <a:t>• Each underlying SFR is controlled by three user registers.</a:t>
            </a:r>
            <a:endParaRPr sz="189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890" dirty="0"/>
              <a:t>• Set register which is used to set bits,</a:t>
            </a:r>
            <a:endParaRPr sz="189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890" dirty="0"/>
              <a:t>• Clear register which is used to clear bits by writing a logic 1 to the bits you wish to clear</a:t>
            </a:r>
            <a:endParaRPr sz="189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890" dirty="0"/>
              <a:t>• Status register which is used to read the current contents of the register.</a:t>
            </a:r>
            <a:endParaRPr sz="189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890" dirty="0">
                <a:solidFill>
                  <a:schemeClr val="dk1"/>
                </a:solidFill>
              </a:rPr>
              <a:t>• The most common mistake made when new to the LPC2100 is to write zero into the Clear register which has no effect.</a:t>
            </a:r>
            <a:endParaRPr sz="189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/>
              <a:t>SFRs Used:</a:t>
            </a:r>
            <a:endParaRPr sz="3400" b="1"/>
          </a:p>
        </p:txBody>
      </p:sp>
      <p:sp>
        <p:nvSpPr>
          <p:cNvPr id="244" name="Google Shape;244;p4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41505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i="1"/>
              <a:t>P0</a:t>
            </a:r>
            <a:endParaRPr sz="2600" b="1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IODIR0</a:t>
            </a:r>
            <a:r>
              <a:rPr lang="en" sz="1800" b="1"/>
              <a:t> →</a:t>
            </a:r>
            <a:r>
              <a:rPr lang="en" sz="1600"/>
              <a:t> to set the direction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IOSET0 </a:t>
            </a:r>
            <a:r>
              <a:rPr lang="en" sz="1800" b="1"/>
              <a:t>→ </a:t>
            </a:r>
            <a:r>
              <a:rPr lang="en" sz="1600"/>
              <a:t>to set a Pin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IOCLR0 </a:t>
            </a:r>
            <a:r>
              <a:rPr lang="en" sz="1800" b="1"/>
              <a:t>→</a:t>
            </a:r>
            <a:r>
              <a:rPr lang="en" sz="1600"/>
              <a:t> to clear a Pin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• IOPIN0 </a:t>
            </a:r>
            <a:r>
              <a:rPr lang="en" sz="1800" b="1"/>
              <a:t>→</a:t>
            </a:r>
            <a:r>
              <a:rPr lang="en" sz="1600"/>
              <a:t> to Read a Pin</a:t>
            </a:r>
            <a:endParaRPr sz="1600"/>
          </a:p>
        </p:txBody>
      </p:sp>
      <p:sp>
        <p:nvSpPr>
          <p:cNvPr id="245" name="Google Shape;245;p44"/>
          <p:cNvSpPr txBox="1">
            <a:spLocks noGrp="1"/>
          </p:cNvSpPr>
          <p:nvPr>
            <p:ph type="body" idx="2"/>
          </p:nvPr>
        </p:nvSpPr>
        <p:spPr>
          <a:xfrm>
            <a:off x="4314000" y="1468825"/>
            <a:ext cx="4408500" cy="3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i="1"/>
              <a:t> 		P1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• IODIR1 </a:t>
            </a:r>
            <a:r>
              <a:rPr lang="en" sz="2200" b="1"/>
              <a:t>→</a:t>
            </a:r>
            <a:r>
              <a:rPr lang="en" sz="1700"/>
              <a:t> to set the direction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• IOSET1 </a:t>
            </a:r>
            <a:r>
              <a:rPr lang="en" sz="2200" b="1"/>
              <a:t>→</a:t>
            </a:r>
            <a:r>
              <a:rPr lang="en" sz="1700"/>
              <a:t> to set a Pin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• IOCLR1 </a:t>
            </a:r>
            <a:r>
              <a:rPr lang="en" sz="2200" b="1"/>
              <a:t>→</a:t>
            </a:r>
            <a:r>
              <a:rPr lang="en" sz="1700"/>
              <a:t> to clear a Pin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• IOPIN1 </a:t>
            </a:r>
            <a:r>
              <a:rPr lang="en" sz="2200" b="1"/>
              <a:t>→</a:t>
            </a:r>
            <a:r>
              <a:rPr lang="en" sz="1700"/>
              <a:t> to Read a Pin</a:t>
            </a:r>
            <a:endParaRPr sz="2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>
            <a:spLocks noGrp="1"/>
          </p:cNvSpPr>
          <p:nvPr>
            <p:ph type="title"/>
          </p:nvPr>
        </p:nvSpPr>
        <p:spPr>
          <a:xfrm>
            <a:off x="295475" y="105900"/>
            <a:ext cx="8520600" cy="8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1" i="1">
                <a:solidFill>
                  <a:schemeClr val="dk1"/>
                </a:solidFill>
              </a:rPr>
              <a:t>IODIR:</a:t>
            </a:r>
            <a:endParaRPr sz="4300" b="1" i="1">
              <a:solidFill>
                <a:schemeClr val="dk1"/>
              </a:solidFill>
            </a:endParaRPr>
          </a:p>
        </p:txBody>
      </p:sp>
      <p:sp>
        <p:nvSpPr>
          <p:cNvPr id="251" name="Google Shape;251;p45"/>
          <p:cNvSpPr txBox="1">
            <a:spLocks noGrp="1"/>
          </p:cNvSpPr>
          <p:nvPr>
            <p:ph type="body" idx="1"/>
          </p:nvPr>
        </p:nvSpPr>
        <p:spPr>
          <a:xfrm>
            <a:off x="172775" y="1290900"/>
            <a:ext cx="8766000" cy="3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295" b="1">
                <a:solidFill>
                  <a:srgbClr val="00FF00"/>
                </a:solidFill>
              </a:rPr>
              <a:t>1 → Output 							0 → Input</a:t>
            </a:r>
            <a:endParaRPr sz="2295" b="1">
              <a:solidFill>
                <a:srgbClr val="00FF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2011"/>
              <a:t>• IODIR controls the 'direction' of the GPIO pin.</a:t>
            </a:r>
            <a:endParaRPr sz="201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2011"/>
              <a:t>• You use this register to set a GPIO pin to either Input (0) or Output (1).</a:t>
            </a:r>
            <a:endParaRPr sz="201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2011"/>
              <a:t>• To Configure GPIO 0.10 to 'Output' (1).</a:t>
            </a:r>
            <a:endParaRPr sz="2011"/>
          </a:p>
          <a:p>
            <a:pPr marL="914400" lvl="0" indent="457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2011">
                <a:solidFill>
                  <a:srgbClr val="FF0000"/>
                </a:solidFill>
              </a:rPr>
              <a:t>IODIR |= (1 &lt;&lt; 10);</a:t>
            </a:r>
            <a:endParaRPr sz="201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2011"/>
              <a:t>• To Configure GPIO 0.10 to ‘Input' (0).</a:t>
            </a:r>
            <a:endParaRPr sz="2011"/>
          </a:p>
          <a:p>
            <a:pPr marL="13716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2011">
                <a:solidFill>
                  <a:srgbClr val="FF0000"/>
                </a:solidFill>
              </a:rPr>
              <a:t>IODIR &amp;= ~(1 &lt;&lt; 10);</a:t>
            </a:r>
            <a:endParaRPr sz="142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i="1">
                <a:solidFill>
                  <a:schemeClr val="dk1"/>
                </a:solidFill>
              </a:rPr>
              <a:t>IODIR0:</a:t>
            </a:r>
            <a:endParaRPr sz="3300" b="1" i="1">
              <a:solidFill>
                <a:schemeClr val="dk1"/>
              </a:solidFill>
            </a:endParaRPr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00" y="1336825"/>
            <a:ext cx="8757400" cy="358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25" y="315050"/>
            <a:ext cx="8719325" cy="45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75" y="544450"/>
            <a:ext cx="8640001" cy="38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1">
                <a:solidFill>
                  <a:schemeClr val="dk1"/>
                </a:solidFill>
              </a:rPr>
              <a:t>IOSET and IOCLR</a:t>
            </a:r>
            <a:endParaRPr sz="3200" b="1" i="1">
              <a:solidFill>
                <a:schemeClr val="dk1"/>
              </a:solidFill>
            </a:endParaRPr>
          </a:p>
        </p:txBody>
      </p:sp>
      <p:sp>
        <p:nvSpPr>
          <p:cNvPr id="273" name="Google Shape;273;p4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• If GPIO pin is set as Output (using the IODIR register)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• IOSET is used to set GPIO pin to 'high' (providing a small  3.3V electrical output)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• IOCLR is used to clear it to 'low' (providing a connection to GND).</a:t>
            </a:r>
            <a:endParaRPr sz="2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/>
              <a:t>IOSET0</a:t>
            </a:r>
            <a:endParaRPr sz="3300" b="1"/>
          </a:p>
        </p:txBody>
      </p:sp>
      <p:pic>
        <p:nvPicPr>
          <p:cNvPr id="279" name="Google Shape;27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8400"/>
            <a:ext cx="8923850" cy="36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i="1">
                <a:solidFill>
                  <a:schemeClr val="dk1"/>
                </a:solidFill>
              </a:rPr>
              <a:t>IOCLR0</a:t>
            </a:r>
            <a:endParaRPr sz="3400" b="1" i="1">
              <a:solidFill>
                <a:schemeClr val="dk1"/>
              </a:solidFill>
            </a:endParaRPr>
          </a:p>
        </p:txBody>
      </p:sp>
      <p:pic>
        <p:nvPicPr>
          <p:cNvPr id="285" name="Google Shape;2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50" y="1215775"/>
            <a:ext cx="8331499" cy="37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i="1">
                <a:solidFill>
                  <a:schemeClr val="dk1"/>
                </a:solidFill>
              </a:rPr>
              <a:t>A small Example</a:t>
            </a:r>
            <a:endParaRPr sz="3300" b="1" i="1">
              <a:solidFill>
                <a:schemeClr val="dk1"/>
              </a:solidFill>
            </a:endParaRPr>
          </a:p>
        </p:txBody>
      </p:sp>
      <p:sp>
        <p:nvSpPr>
          <p:cNvPr id="291" name="Google Shape;291;p52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Make sure GPIO 0.10 and 0.11 are set to output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• IODIR0 |= (1 &lt;&lt; 10) | (1 &lt;&lt; 11);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• Turn the LEDs off using IOCLR (which gives a GND connection)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• IOCLR0 |= (1 &lt;&lt; 10) | (1 &lt;&lt; 11);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• Turn the LEDs on using IOSET (which supplies 3.3V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• IOSET0 |= (1 &lt;&lt; 10) | (1 &lt;&lt; 11);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1">
                <a:solidFill>
                  <a:schemeClr val="dk1"/>
                </a:solidFill>
              </a:rPr>
              <a:t>IOPIN:</a:t>
            </a:r>
            <a:endParaRPr sz="3600" b="1" i="1">
              <a:solidFill>
                <a:schemeClr val="dk1"/>
              </a:solidFill>
            </a:endParaRPr>
          </a:p>
        </p:txBody>
      </p:sp>
      <p:sp>
        <p:nvSpPr>
          <p:cNvPr id="297" name="Google Shape;297;p5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• Regardless of whether GPIO pins direction is set to Input or Output.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• IOPIN register is used to read the current 'state' of every GPIO pin(all 32 pins in GPIO).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• A 1 value means that the pin is currently 'high', and a 0 value means the pin is currently 'low'.</a:t>
            </a:r>
            <a:endParaRPr sz="2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i="1">
                <a:solidFill>
                  <a:schemeClr val="dk1"/>
                </a:solidFill>
              </a:rPr>
              <a:t>A Small Example</a:t>
            </a:r>
            <a:endParaRPr sz="3400" b="1" i="1">
              <a:solidFill>
                <a:schemeClr val="dk1"/>
              </a:solidFill>
            </a:endParaRPr>
          </a:p>
        </p:txBody>
      </p:sp>
      <p:sp>
        <p:nvSpPr>
          <p:cNvPr id="303" name="Google Shape;303;p54"/>
          <p:cNvSpPr txBox="1">
            <a:spLocks noGrp="1"/>
          </p:cNvSpPr>
          <p:nvPr>
            <p:ph type="body" idx="1"/>
          </p:nvPr>
        </p:nvSpPr>
        <p:spPr>
          <a:xfrm>
            <a:off x="125725" y="1255525"/>
            <a:ext cx="8859900" cy="37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int getPinState(int pinNumber)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{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// Read the current state of all pins in GPIO block 0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int pinBlockState = IO0_IOPIN;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// Read the value of 'pinNumber'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int pinState = (pinBlockState &amp; (1 &lt;&lt; pinNumber)) ? 1 : 0;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// Return the value of pinState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return pinState;</a:t>
            </a:r>
            <a:endParaRPr sz="186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865"/>
              <a:t>}</a:t>
            </a:r>
            <a:endParaRPr sz="1865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i="1">
                <a:solidFill>
                  <a:schemeClr val="dk1"/>
                </a:solidFill>
              </a:rPr>
              <a:t>Applications of LPC2148:</a:t>
            </a:r>
            <a:endParaRPr sz="3400" b="1" i="1">
              <a:solidFill>
                <a:schemeClr val="dk1"/>
              </a:solidFill>
            </a:endParaRPr>
          </a:p>
        </p:txBody>
      </p:sp>
      <p:sp>
        <p:nvSpPr>
          <p:cNvPr id="315" name="Google Shape;315;p5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Industrial control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Medical systems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Access control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Point-of-sale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Communication gateway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/>
              <a:t>• Embedded soft modem</a:t>
            </a:r>
            <a:endParaRPr sz="2029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2029"/>
              <a:t>• General purpose applications</a:t>
            </a:r>
            <a:endParaRPr sz="2029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/>
              <a:t>ADC Calculations:</a:t>
            </a:r>
            <a:endParaRPr b="1" i="1"/>
          </a:p>
        </p:txBody>
      </p:sp>
      <p:sp>
        <p:nvSpPr>
          <p:cNvPr id="321" name="Google Shape;321;p5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A/D Conv=PCLK / X+1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= 15MHz / X+1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= 15MHz / 3+1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= 3.75MHz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 value must be &lt; 4.5MHz</a:t>
            </a:r>
            <a:endParaRPr sz="2900"/>
          </a:p>
        </p:txBody>
      </p:sp>
      <p:sp>
        <p:nvSpPr>
          <p:cNvPr id="322" name="Google Shape;322;p57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A/D Conv=pclk / x+1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= 10MHz / x+1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= 10MHz / 2+1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= 3.33MHz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 value must be &lt; 4.5MHz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TIMER 0</a:t>
            </a:r>
            <a:endParaRPr dirty="0"/>
          </a:p>
        </p:txBody>
      </p:sp>
      <p:sp>
        <p:nvSpPr>
          <p:cNvPr id="328" name="Google Shape;328;p58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smtClean="0"/>
              <a:t>Delay=(PR+1)/operating frequency;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err="1" smtClean="0"/>
              <a:t>e.g</a:t>
            </a:r>
            <a:endParaRPr lang="en-IN" dirty="0" smtClean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smtClean="0"/>
              <a:t>1ms=PR+1/60Mhz;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smtClean="0"/>
              <a:t>1x10^-3=PR+1/(60x10^6);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smtClean="0"/>
              <a:t>60000=PR+1;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smtClean="0"/>
              <a:t>PR=59999;</a:t>
            </a:r>
            <a:endParaRPr dirty="0"/>
          </a:p>
        </p:txBody>
      </p:sp>
      <p:sp>
        <p:nvSpPr>
          <p:cNvPr id="329" name="Google Shape;329;p58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>
            <a:spLocks noGrp="1"/>
          </p:cNvSpPr>
          <p:nvPr>
            <p:ph type="title"/>
          </p:nvPr>
        </p:nvSpPr>
        <p:spPr>
          <a:xfrm>
            <a:off x="311700" y="30065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/>
              <a:t>How We classify them ?</a:t>
            </a:r>
            <a:endParaRPr sz="3100" b="1"/>
          </a:p>
        </p:txBody>
      </p:sp>
      <p:sp>
        <p:nvSpPr>
          <p:cNvPr id="335" name="Google Shape;335;p59"/>
          <p:cNvSpPr txBox="1">
            <a:spLocks noGrp="1"/>
          </p:cNvSpPr>
          <p:nvPr>
            <p:ph type="body" idx="1"/>
          </p:nvPr>
        </p:nvSpPr>
        <p:spPr>
          <a:xfrm>
            <a:off x="311700" y="1336150"/>
            <a:ext cx="8520600" cy="32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Classify them as 2 types 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Fast IRQs or FIQs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Normal IRQs or IRQs which can be further classified as 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– Vectored IRQ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– Non-Vectored IRQ.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36" name="Google Shape;3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725" y="3718938"/>
            <a:ext cx="63627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Interrupts in LPC2148</a:t>
            </a:r>
            <a:endParaRPr/>
          </a:p>
        </p:txBody>
      </p:sp>
      <p:sp>
        <p:nvSpPr>
          <p:cNvPr id="342" name="Google Shape;342;p60"/>
          <p:cNvSpPr txBox="1">
            <a:spLocks noGrp="1"/>
          </p:cNvSpPr>
          <p:nvPr>
            <p:ph type="body" idx="1"/>
          </p:nvPr>
        </p:nvSpPr>
        <p:spPr>
          <a:xfrm>
            <a:off x="311700" y="1293050"/>
            <a:ext cx="8624700" cy="3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Interrupts are Handled by Vectored Interrupt Controller(VIC)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Types of Interrupts in LPC2148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• Fast Interrupt Request i.e FIQ :</a:t>
            </a:r>
            <a:r>
              <a:rPr lang="en" dirty="0"/>
              <a:t> which has highest priority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• Vectored Interrupt Request i.e Vectored IRQ :</a:t>
            </a:r>
            <a:r>
              <a:rPr lang="en" dirty="0"/>
              <a:t> which has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‘middle’ or priority between FIQ and Non-Vectored IRQ.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• Non-Vectored IRQ :</a:t>
            </a:r>
            <a:r>
              <a:rPr lang="en" dirty="0"/>
              <a:t> which has the lowest priority.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1"/>
          <p:cNvSpPr txBox="1">
            <a:spLocks noGrp="1"/>
          </p:cNvSpPr>
          <p:nvPr>
            <p:ph type="title"/>
          </p:nvPr>
        </p:nvSpPr>
        <p:spPr>
          <a:xfrm>
            <a:off x="311700" y="22555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does Vectored mean ?</a:t>
            </a:r>
            <a:endParaRPr b="1"/>
          </a:p>
        </p:txBody>
      </p:sp>
      <p:sp>
        <p:nvSpPr>
          <p:cNvPr id="348" name="Google Shape;348;p61"/>
          <p:cNvSpPr txBox="1">
            <a:spLocks noGrp="1"/>
          </p:cNvSpPr>
          <p:nvPr>
            <p:ph type="body" idx="1"/>
          </p:nvPr>
        </p:nvSpPr>
        <p:spPr>
          <a:xfrm>
            <a:off x="186775" y="1264325"/>
            <a:ext cx="8763900" cy="3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‘Vectored‘ means that the </a:t>
            </a:r>
            <a:r>
              <a:rPr lang="en" dirty="0">
                <a:solidFill>
                  <a:srgbClr val="CC0000"/>
                </a:solidFill>
              </a:rPr>
              <a:t>CPU is aware of the address of the ISR</a:t>
            </a:r>
            <a:r>
              <a:rPr lang="en" dirty="0"/>
              <a:t> when the interrupt occurs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Non-Vectored means that </a:t>
            </a:r>
            <a:r>
              <a:rPr lang="en" dirty="0">
                <a:solidFill>
                  <a:srgbClr val="FF0000"/>
                </a:solidFill>
              </a:rPr>
              <a:t>CPU doesn’t know the address of the ISR </a:t>
            </a:r>
            <a:r>
              <a:rPr lang="en" dirty="0"/>
              <a:t>(nor) the source of the IRQ when the interrupt occurs.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For Non – Vectored interrupts,CPU needs to be supplied by the ISR address.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• For the Vectored interrupts , the System internally maintains a table called </a:t>
            </a:r>
            <a:r>
              <a:rPr lang="en" dirty="0">
                <a:solidFill>
                  <a:srgbClr val="FF0000"/>
                </a:solidFill>
              </a:rPr>
              <a:t>IVT or Interrupt Vector Table</a:t>
            </a:r>
            <a:r>
              <a:rPr lang="en" dirty="0"/>
              <a:t> which contains the information about Interrupts sources and their corresponding ISR address.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Non-Vectored Interrupts are handled?</a:t>
            </a:r>
            <a:endParaRPr dirty="0"/>
          </a:p>
        </p:txBody>
      </p:sp>
      <p:sp>
        <p:nvSpPr>
          <p:cNvPr id="354" name="Google Shape;354;p62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639100" cy="34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Non-Vectored ISRs doesn’t point to a unique ISR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The CPU needs to be supplied with the address of the ‘default’ or a ‘common’ ISR that needs to be executed when the interrupt occurs.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In LPC2148 this is facilitated by a register called ‘VICDefVectAddr‘.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• The user must assign the address of the default ISR to this register for handling Non-Vectored IRQs.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Possible Interrupt Sources are there ?</a:t>
            </a:r>
            <a:endParaRPr/>
          </a:p>
        </p:txBody>
      </p:sp>
      <p:sp>
        <p:nvSpPr>
          <p:cNvPr id="360" name="Google Shape;360;p63"/>
          <p:cNvSpPr txBox="1">
            <a:spLocks noGrp="1"/>
          </p:cNvSpPr>
          <p:nvPr>
            <p:ph type="body" idx="1"/>
          </p:nvPr>
        </p:nvSpPr>
        <p:spPr>
          <a:xfrm>
            <a:off x="143675" y="1293050"/>
            <a:ext cx="8778300" cy="3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There are 22 Interrupt Sources in LPC2148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But there are only 16 Slots </a:t>
            </a:r>
            <a:r>
              <a:rPr lang="en" dirty="0" smtClean="0"/>
              <a:t>in </a:t>
            </a:r>
            <a:r>
              <a:rPr lang="en" dirty="0"/>
              <a:t>the Vectored Interrupt Controller (VIC) 0 to 15.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• These 22 possible sources have to be shared by using Slots 0 to 15 of VIC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• Slot 0 Highest Priority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/>
              <a:t>• Slot 15 Lowest Priority</a:t>
            </a:r>
            <a:endParaRPr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6" name="Google Shape;36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25" y="2680825"/>
            <a:ext cx="76009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VICVectCntl0 to VICVectCntl15:</a:t>
            </a:r>
            <a:endParaRPr/>
          </a:p>
        </p:txBody>
      </p:sp>
      <p:sp>
        <p:nvSpPr>
          <p:cNvPr id="372" name="Google Shape;372;p65"/>
          <p:cNvSpPr txBox="1">
            <a:spLocks noGrp="1"/>
          </p:cNvSpPr>
          <p:nvPr>
            <p:ph type="body" idx="1"/>
          </p:nvPr>
        </p:nvSpPr>
        <p:spPr>
          <a:xfrm>
            <a:off x="172400" y="1307425"/>
            <a:ext cx="8807100" cy="3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These are the Vector Control registers.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These are used to assign a particular interrupt source to a particular slot.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As mentioned before slot 0 i.e VICVectCntl0 has highest priority and VICVectCntl15 has the lowest.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Each of this registers can be divided into 3 parts : {Bit0 to bit4} , {Bit 5} , {and rest of the bits}.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The first 5 bits i.e Bit 0 to Bit 4 contain the number of the interrupt request which is assigned to this slot. The interrupt source numbers are given in the table below 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The 5th bit is used to enable the vectored IRQ slot by writing a 1</a:t>
            </a:r>
            <a:endParaRPr/>
          </a:p>
        </p:txBody>
      </p:sp>
      <p:pic>
        <p:nvPicPr>
          <p:cNvPr id="378" name="Google Shape;3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000" y="3772875"/>
            <a:ext cx="5450850" cy="5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/>
              <a:t>Important Note:</a:t>
            </a:r>
            <a:endParaRPr sz="3100" b="1"/>
          </a:p>
        </p:txBody>
      </p:sp>
      <p:sp>
        <p:nvSpPr>
          <p:cNvPr id="384" name="Google Shape;384;p67"/>
          <p:cNvSpPr txBox="1">
            <a:spLocks noGrp="1"/>
          </p:cNvSpPr>
          <p:nvPr>
            <p:ph type="body" idx="1"/>
          </p:nvPr>
        </p:nvSpPr>
        <p:spPr>
          <a:xfrm>
            <a:off x="114950" y="1336150"/>
            <a:ext cx="8778300" cy="3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Note that if the vectored IRQ slot is disabled it will not disable the interrupt but will change the corresponding interrupt to Non-Vectored IRQ.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Enabling the slot here means that it can generate the address of the ‘dedicated Interrupt handling function (ISR)’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Disabling it will generate the address of the ‘common/default Interrupt handling function (ISR)’ which is for Non-Vectored ISR.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In simple words if the slot is enabled it points to ‘specific and dedicated interrupt handling function’ and if its disable it will point to the ‘default function’.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8"/>
          <p:cNvSpPr txBox="1">
            <a:spLocks noGrp="1"/>
          </p:cNvSpPr>
          <p:nvPr>
            <p:ph type="title"/>
          </p:nvPr>
        </p:nvSpPr>
        <p:spPr>
          <a:xfrm>
            <a:off x="311700" y="129300"/>
            <a:ext cx="8520600" cy="97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 b="1" i="1">
                <a:latin typeface="Source Code Pro"/>
                <a:ea typeface="Source Code Pro"/>
                <a:cs typeface="Source Code Pro"/>
                <a:sym typeface="Source Code Pro"/>
              </a:rPr>
              <a:t>VICVectAddr0 to VICVectAddr15 </a:t>
            </a:r>
            <a:endParaRPr sz="2300" b="1" i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en" sz="2300" b="1" i="1">
                <a:latin typeface="Source Code Pro"/>
                <a:ea typeface="Source Code Pro"/>
                <a:cs typeface="Source Code Pro"/>
                <a:sym typeface="Source Code Pro"/>
              </a:rPr>
              <a:t>(16 registers in all):</a:t>
            </a:r>
            <a:endParaRPr sz="2300" b="1" i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90" name="Google Shape;390;p68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• For Vectored IRQs these register store the address of the function that must be called when an interrupt occurs.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• Note – If you assign slot 3 for TIMER0 IRQ then care must be taken that you assign the address of the interrupt function to corresponding address register .. i.e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VICVectAddr3 in this example.</a:t>
            </a:r>
            <a:endParaRPr sz="19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i="1"/>
              <a:t>VICVectAddr:</a:t>
            </a:r>
            <a:endParaRPr sz="3400" b="1" i="1"/>
          </a:p>
        </p:txBody>
      </p:sp>
      <p:sp>
        <p:nvSpPr>
          <p:cNvPr id="396" name="Google Shape;396;p6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682300" cy="3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This must not be confused with the above set of 16 VICVecAddrX registers.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When an interrupt is Triggered this register holds the address of the associated ISR i.e the one which is currently active.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Writing a value i.e dummy write to this register indicates to the VIC that current Interrupt has finished execution.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The only place we’ll use this register .. is at the end of the ISR to signal end of ISR execution.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Write an ISR:</a:t>
            </a:r>
            <a:endParaRPr/>
          </a:p>
        </p:txBody>
      </p:sp>
      <p:sp>
        <p:nvSpPr>
          <p:cNvPr id="402" name="Google Shape;402;p70"/>
          <p:cNvSpPr txBox="1">
            <a:spLocks noGrp="1"/>
          </p:cNvSpPr>
          <p:nvPr>
            <p:ph type="body" idx="1"/>
          </p:nvPr>
        </p:nvSpPr>
        <p:spPr>
          <a:xfrm>
            <a:off x="158050" y="1321800"/>
            <a:ext cx="4153500" cy="3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Method – 1</a:t>
            </a:r>
            <a:endParaRPr sz="15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__irq void myISR (void)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{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...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}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/>
              <a:t>For 8051</a:t>
            </a:r>
            <a:endParaRPr sz="15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void myISR (void) interrupt 1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{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...</a:t>
            </a:r>
            <a:endParaRPr sz="15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}</a:t>
            </a:r>
            <a:endParaRPr sz="1500"/>
          </a:p>
        </p:txBody>
      </p:sp>
      <p:sp>
        <p:nvSpPr>
          <p:cNvPr id="403" name="Google Shape;403;p70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Method – 2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void myISR (void) __irq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{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...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}</a:t>
            </a:r>
            <a:endParaRPr sz="16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3 Step Process to Enable a Vectored IRQ:</a:t>
            </a:r>
            <a:endParaRPr/>
          </a:p>
        </p:txBody>
      </p:sp>
      <p:sp>
        <p:nvSpPr>
          <p:cNvPr id="409" name="Google Shape;409;p7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624700" cy="3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/>
              <a:t>• Step–1:</a:t>
            </a:r>
            <a:r>
              <a:rPr lang="en" sz="2200"/>
              <a:t> Enable the IRQ by setting the appropriate bit of VICIntEnable to ’1′.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• Step-2:</a:t>
            </a:r>
            <a:r>
              <a:rPr lang="en" sz="2200"/>
              <a:t> Identify the interrupt source number and assign it to VICVectCntlX.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/>
              <a:t>• Step-3:</a:t>
            </a:r>
            <a:r>
              <a:rPr lang="en" sz="2200"/>
              <a:t> Assign the address of the related ISR to VICVectAddrX.</a:t>
            </a:r>
            <a:endParaRPr sz="22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PWM</a:t>
            </a:r>
            <a:endParaRPr dirty="0"/>
          </a:p>
        </p:txBody>
      </p:sp>
      <p:sp>
        <p:nvSpPr>
          <p:cNvPr id="415" name="Google Shape;415;p72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IN"/>
              <a:t>Delay</a:t>
            </a:r>
            <a:r>
              <a:rPr lang="en-IN" smtClean="0"/>
              <a:t>=(PWMPR+1</a:t>
            </a:r>
            <a:r>
              <a:rPr lang="en-IN" dirty="0"/>
              <a:t>)/operating frequency;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 err="1"/>
              <a:t>e.g</a:t>
            </a:r>
            <a:endParaRPr lang="en-IN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 smtClean="0"/>
              <a:t>1us=PWMPR+1/60Mhz</a:t>
            </a:r>
            <a:r>
              <a:rPr lang="en-IN" dirty="0"/>
              <a:t>;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/>
              <a:t>1x10</a:t>
            </a:r>
            <a:r>
              <a:rPr lang="en-IN" dirty="0" smtClean="0"/>
              <a:t>^-6=PWMPR+1</a:t>
            </a:r>
            <a:r>
              <a:rPr lang="en-IN" dirty="0"/>
              <a:t>/(60x10^6);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 smtClean="0"/>
              <a:t>60=PR+1</a:t>
            </a:r>
            <a:r>
              <a:rPr lang="en-IN" dirty="0"/>
              <a:t>;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 smtClean="0"/>
              <a:t>PWMPR=59;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3"/>
          <p:cNvSpPr txBox="1">
            <a:spLocks noGrp="1"/>
          </p:cNvSpPr>
          <p:nvPr>
            <p:ph type="title"/>
          </p:nvPr>
        </p:nvSpPr>
        <p:spPr>
          <a:xfrm>
            <a:off x="311700" y="239600"/>
            <a:ext cx="8520600" cy="86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1"/>
                </a:solidFill>
              </a:rPr>
              <a:t>UART</a:t>
            </a:r>
            <a:r>
              <a:rPr lang="en" b="1" i="1">
                <a:solidFill>
                  <a:srgbClr val="FF9900"/>
                </a:solidFill>
              </a:rPr>
              <a:t>:</a:t>
            </a:r>
            <a:endParaRPr b="1" i="1">
              <a:solidFill>
                <a:srgbClr val="FF9900"/>
              </a:solidFill>
            </a:endParaRPr>
          </a:p>
        </p:txBody>
      </p:sp>
      <p:sp>
        <p:nvSpPr>
          <p:cNvPr id="421" name="Google Shape;421;p7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LPC2148 there are 2 UART: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arenR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Uart 0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arenR"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Uart 1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associated with LPC2148:</a:t>
            </a:r>
            <a:endParaRPr sz="4800" b="1" i="1">
              <a:solidFill>
                <a:schemeClr val="dk1"/>
              </a:solidFill>
            </a:endParaRPr>
          </a:p>
        </p:txBody>
      </p:sp>
      <p:sp>
        <p:nvSpPr>
          <p:cNvPr id="427" name="Google Shape;427;p7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control register (U0LCR,U1LCR)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DIVISOR LATCH Register (U0DLL, U0DLM)  → BR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 Buffer Register (U0THR and U1THR)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Buffer Register (U0RBR, U1RBR)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Status Register (U0LSR and U1LSR)→ read only register where the data TX &amp; RX or not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Fractional Divisor Register.</a:t>
            </a:r>
            <a:endParaRPr sz="2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FORMULA:</a:t>
            </a:r>
            <a:endParaRPr/>
          </a:p>
        </p:txBody>
      </p:sp>
      <p:sp>
        <p:nvSpPr>
          <p:cNvPr id="433" name="Google Shape;433;p7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UART0 baudrate= PCLK							MulVal</a:t>
            </a:r>
            <a:endParaRPr/>
          </a:p>
          <a:p>
            <a:pPr marL="18288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-------------------------X—------------------</a:t>
            </a:r>
            <a:endParaRPr/>
          </a:p>
          <a:p>
            <a:pPr marL="137160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16X(U0DLM + U0DLL)	    (MulVal + DivAddVal)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per Datasheet we can skip the fractional no.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UART0 baud rate  = 			PCLK							</a:t>
            </a:r>
            <a:endParaRPr/>
          </a:p>
          <a:p>
            <a:pPr marL="18288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		-----------------------</a:t>
            </a:r>
            <a:endParaRPr/>
          </a:p>
          <a:p>
            <a:pPr marL="137160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		16X(U0DLM + U0DLL)	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6"/>
          <p:cNvSpPr txBox="1">
            <a:spLocks noGrp="1"/>
          </p:cNvSpPr>
          <p:nvPr>
            <p:ph type="body" idx="1"/>
          </p:nvPr>
        </p:nvSpPr>
        <p:spPr>
          <a:xfrm>
            <a:off x="311700" y="1358750"/>
            <a:ext cx="8520600" cy="3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(U0DLL+U0DLM)= PCLK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	  -----------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BR*16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0" indent="4572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15*10^6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   	    ------------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4572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9600*16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     		= 97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= 0x0061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DLL=61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DLM=00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RTC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PREINT = </a:t>
            </a:r>
            <a:r>
              <a:rPr lang="en-IN" dirty="0" err="1"/>
              <a:t>int</a:t>
            </a:r>
            <a:r>
              <a:rPr lang="en-IN" dirty="0"/>
              <a:t> (PCLK / 32768) </a:t>
            </a:r>
            <a:r>
              <a:rPr lang="en-IN" dirty="0" smtClean="0"/>
              <a:t>- </a:t>
            </a:r>
            <a:r>
              <a:rPr lang="en-IN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126537606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2720</Words>
  <Application>Microsoft Office PowerPoint</Application>
  <PresentationFormat>On-screen Show (16:9)</PresentationFormat>
  <Paragraphs>410</Paragraphs>
  <Slides>71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inter-regular</vt:lpstr>
      <vt:lpstr>Oswald</vt:lpstr>
      <vt:lpstr>Source Code Pro</vt:lpstr>
      <vt:lpstr>Arial</vt:lpstr>
      <vt:lpstr>inherit</vt:lpstr>
      <vt:lpstr>Modern Writer</vt:lpstr>
      <vt:lpstr>ARM:</vt:lpstr>
      <vt:lpstr>Differences in RISC and CISC Architecture</vt:lpstr>
      <vt:lpstr>ARM INTRODUCTION:</vt:lpstr>
      <vt:lpstr>History Of ARM</vt:lpstr>
      <vt:lpstr>Pathway</vt:lpstr>
      <vt:lpstr>PowerPoint Presentation</vt:lpstr>
      <vt:lpstr>    ARM PROCESSORS:</vt:lpstr>
      <vt:lpstr>ARM Classic Processors:</vt:lpstr>
      <vt:lpstr>    ARM Embedded Processors:</vt:lpstr>
      <vt:lpstr>   ARM Embedded Processors:</vt:lpstr>
      <vt:lpstr>   ARM Applications Processors:</vt:lpstr>
      <vt:lpstr>   ARM Applications Processors:</vt:lpstr>
      <vt:lpstr>PowerPoint Presentation</vt:lpstr>
      <vt:lpstr>ARM 7 Pipelining</vt:lpstr>
      <vt:lpstr>LPC2148</vt:lpstr>
      <vt:lpstr>PIN DIAGRAM:</vt:lpstr>
      <vt:lpstr>What is LPC?</vt:lpstr>
      <vt:lpstr>Features of LPC2148:</vt:lpstr>
      <vt:lpstr>Types of Buses:</vt:lpstr>
      <vt:lpstr>BUS Architecture:</vt:lpstr>
      <vt:lpstr>Advanced High performance Bus (AHB)</vt:lpstr>
      <vt:lpstr>VLSI Peripheral Bus [VPB]</vt:lpstr>
      <vt:lpstr>Why VPB is operated at Slow Speeds</vt:lpstr>
      <vt:lpstr>What is the Optimum speed of VPB</vt:lpstr>
      <vt:lpstr>Local Bus:</vt:lpstr>
      <vt:lpstr>PowerPoint Presentation</vt:lpstr>
      <vt:lpstr>Activating LPC2148  Microcontroller:</vt:lpstr>
      <vt:lpstr>PowerPoint Presentation</vt:lpstr>
      <vt:lpstr>PowerPoint Presentation</vt:lpstr>
      <vt:lpstr>PowerPoint Presentation</vt:lpstr>
      <vt:lpstr>PowerPoint Presentation</vt:lpstr>
      <vt:lpstr>Parallel Port – Port 0:</vt:lpstr>
      <vt:lpstr>   LPC2148 I/O Ports:</vt:lpstr>
      <vt:lpstr>Parallel Port – Port 1:</vt:lpstr>
      <vt:lpstr>LPC2148 I/O Ports:</vt:lpstr>
      <vt:lpstr>PARALLEL PORT:</vt:lpstr>
      <vt:lpstr>SFR Programming in ARM:</vt:lpstr>
      <vt:lpstr>SFRs Used:</vt:lpstr>
      <vt:lpstr>IODIR:</vt:lpstr>
      <vt:lpstr>IODIR0:</vt:lpstr>
      <vt:lpstr>PowerPoint Presentation</vt:lpstr>
      <vt:lpstr>PowerPoint Presentation</vt:lpstr>
      <vt:lpstr>IOSET and IOCLR</vt:lpstr>
      <vt:lpstr>IOSET0</vt:lpstr>
      <vt:lpstr>IOCLR0</vt:lpstr>
      <vt:lpstr>A small Example</vt:lpstr>
      <vt:lpstr>IOPIN:</vt:lpstr>
      <vt:lpstr>A Small Example</vt:lpstr>
      <vt:lpstr>PowerPoint Presentation</vt:lpstr>
      <vt:lpstr>Applications of LPC2148:</vt:lpstr>
      <vt:lpstr>ADC Calculations:</vt:lpstr>
      <vt:lpstr>TIMER 0</vt:lpstr>
      <vt:lpstr>How We classify them ?</vt:lpstr>
      <vt:lpstr>Types of Interrupts in LPC2148</vt:lpstr>
      <vt:lpstr>What does Vectored mean ?</vt:lpstr>
      <vt:lpstr>How Non-Vectored Interrupts are handled?</vt:lpstr>
      <vt:lpstr>How Many Possible Interrupt Sources are there ?</vt:lpstr>
      <vt:lpstr>PowerPoint Presentation</vt:lpstr>
      <vt:lpstr>VICVectCntl0 to VICVectCntl15:</vt:lpstr>
      <vt:lpstr>PowerPoint Presentation</vt:lpstr>
      <vt:lpstr>Important Note:</vt:lpstr>
      <vt:lpstr>VICVectAddr0 to VICVectAddr15  (16 registers in all):</vt:lpstr>
      <vt:lpstr>VICVectAddr:</vt:lpstr>
      <vt:lpstr>How to Write an ISR:</vt:lpstr>
      <vt:lpstr>A Simple 3 Step Process to Enable a Vectored IRQ:</vt:lpstr>
      <vt:lpstr>PWM</vt:lpstr>
      <vt:lpstr>UART:</vt:lpstr>
      <vt:lpstr>Registers associated with LPC2148:</vt:lpstr>
      <vt:lpstr>      FORMULA:</vt:lpstr>
      <vt:lpstr>PowerPoint Presentation</vt:lpstr>
      <vt:lpstr>RTC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ARM:</dc:title>
  <cp:lastModifiedBy>dell</cp:lastModifiedBy>
  <cp:revision>40</cp:revision>
  <dcterms:modified xsi:type="dcterms:W3CDTF">2023-12-04T06:32:53Z</dcterms:modified>
</cp:coreProperties>
</file>